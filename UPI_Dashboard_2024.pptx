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(INR)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29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27.46</c:v>
                </c:pt>
                <c:pt idx="1">
                  <c:v>25.83</c:v>
                </c:pt>
                <c:pt idx="2">
                  <c:v>27.51</c:v>
                </c:pt>
                <c:pt idx="3">
                  <c:v>26.99</c:v>
                </c:pt>
                <c:pt idx="4">
                  <c:v>28.02</c:v>
                </c:pt>
                <c:pt idx="5">
                  <c:v>27.03</c:v>
                </c:pt>
                <c:pt idx="6">
                  <c:v>28.08</c:v>
                </c:pt>
                <c:pt idx="7">
                  <c:v>27.85</c:v>
                </c:pt>
                <c:pt idx="8">
                  <c:v>27.11</c:v>
                </c:pt>
                <c:pt idx="9">
                  <c:v>27.87</c:v>
                </c:pt>
                <c:pt idx="10">
                  <c:v>26.89</c:v>
                </c:pt>
                <c:pt idx="11">
                  <c:v>27.31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29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Volume (₹ Lakhs)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97BC6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P2P</c:v>
                </c:pt>
                <c:pt idx="1">
                  <c:v>P2M</c:v>
                </c:pt>
                <c:pt idx="2">
                  <c:v>Bill Payment</c:v>
                </c:pt>
                <c:pt idx="3">
                  <c:v>Recharge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112445</c:v>
                </c:pt>
                <c:pt idx="1">
                  <c:v>87660</c:v>
                </c:pt>
                <c:pt idx="2">
                  <c:v>37368</c:v>
                </c:pt>
                <c:pt idx="3">
                  <c:v>12527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0F9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9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942"/>
                </a:solidFill>
                <a:latin typeface="Arial"/>
              </a:rPr>
              <a:t>Top 5 States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9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Maharashtra</c:v>
                  </c:pt>
                  <c:pt idx="1">
                    <c:v>Uttar Pradesh</c:v>
                  </c:pt>
                  <c:pt idx="2">
                    <c:v>Karnataka</c:v>
                  </c:pt>
                  <c:pt idx="3">
                    <c:v>Tamil Nadu</c:v>
                  </c:pt>
                  <c:pt idx="4">
                    <c:v>Delhi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37427</c:v>
                </c:pt>
                <c:pt idx="1">
                  <c:v>30125</c:v>
                </c:pt>
                <c:pt idx="2">
                  <c:v>29756</c:v>
                </c:pt>
                <c:pt idx="3">
                  <c:v>25367</c:v>
                </c:pt>
                <c:pt idx="4">
                  <c:v>24870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29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9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942"/>
                </a:solidFill>
                <a:latin typeface="Arial"/>
              </a:rPr>
              <a:t>Top 5 Banks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9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SBI</c:v>
                  </c:pt>
                  <c:pt idx="1">
                    <c:v>HDFC</c:v>
                  </c:pt>
                  <c:pt idx="2">
                    <c:v>ICICI</c:v>
                  </c:pt>
                  <c:pt idx="3">
                    <c:v>IndusInd</c:v>
                  </c:pt>
                  <c:pt idx="4">
                    <c:v>Axis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62693</c:v>
                </c:pt>
                <c:pt idx="1">
                  <c:v>37485</c:v>
                </c:pt>
                <c:pt idx="2">
                  <c:v>29769</c:v>
                </c:pt>
                <c:pt idx="3">
                  <c:v>25173</c:v>
                </c:pt>
                <c:pt idx="4">
                  <c:v>25042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29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9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942"/>
                </a:solidFill>
                <a:latin typeface="Arial"/>
              </a:rPr>
              <a:t>Device Share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Device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Android</c:v>
                </c:pt>
                <c:pt idx="1">
                  <c:v>iOS</c:v>
                </c:pt>
                <c:pt idx="2">
                  <c:v>Web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187777</c:v>
                </c:pt>
                <c:pt idx="1">
                  <c:v>49613</c:v>
                </c:pt>
                <c:pt idx="2">
                  <c:v>12610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0F9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9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942"/>
                </a:solidFill>
                <a:latin typeface="Arial"/>
              </a:rPr>
              <a:t>Top Merchant Categories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9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Grocery</c:v>
                  </c:pt>
                  <c:pt idx="1">
                    <c:v>Food</c:v>
                  </c:pt>
                  <c:pt idx="2">
                    <c:v>Shopping</c:v>
                  </c:pt>
                  <c:pt idx="3">
                    <c:v>Fuel</c:v>
                  </c:pt>
                  <c:pt idx="4">
                    <c:v>Other</c:v>
                  </c:pt>
                  <c:pt idx="5">
                    <c:v>Utilities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49966</c:v>
                </c:pt>
                <c:pt idx="1">
                  <c:v>37464</c:v>
                </c:pt>
                <c:pt idx="2">
                  <c:v>29872</c:v>
                </c:pt>
                <c:pt idx="3">
                  <c:v>25063</c:v>
                </c:pt>
                <c:pt idx="4">
                  <c:v>24828</c:v>
                </c:pt>
                <c:pt idx="5">
                  <c:v>22338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29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9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report scope: 250,000 UPI transactions from Jan–Dec 2024. Highlight the ₹32.79 Cr total volume and 0.19% fraud rate as headline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KPI card. Emphasise the 95% success rate as a sign of system health, and note that 0.19% fraud (though low) represents ~475 cases worth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 is relatively flat across months (₹25–28 Lakhs/month), indicating stable adoption. May and July show marginal peaks — could correlate with festive or salary cycles.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P2P dominates at 45% of transactions. Recharge category shows the highest fraud rate at 0.24%, even though it has the fewest transactions. Flag for fraud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Maharashtra leads with 37,427 transactions, driven by Mumbai metro usage. SBI commands 25% market share, nearly double HDFC's share. UP is second — reflects large population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Android dominates at 75% — reflects India's smartphone market. Grocery is the top spending category at 20%, followed by Food at 15%. Web usage is low at 5%, confirming mobile-first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classes of bugs were found in the original script. The most critical were the non-existent .accumulator() calls which would crash the entire pipeline at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action items. Assign owners for each recommendation and set a Q1 2025 review checkpoint. The recharge fraud alert should go to the fraud ops team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Transactions 2024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Intelligence Report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 Transactions  ·  ₹32.79 Cr Total Volume  ·  FY 2024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127248"/>
            <a:ext cx="41148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Analytics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at a glance — FY 2024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2024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₹32.79 Cr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0040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Volume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2944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 transactions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234440"/>
            <a:ext cx="192024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173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68880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95.05%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468880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468880" y="2944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4.95% failed / pending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17720" y="1234440"/>
            <a:ext cx="192024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4173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0.19%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617720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17720" y="2944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~475 flagged txns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766560" y="1234440"/>
            <a:ext cx="192024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4173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₹1,311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6766560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766560" y="2944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₹629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Transaction Volume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INR value processed per month across all transaction types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84124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Type Breakdown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transaction categories and their fraud profiles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4389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63040"/>
          <a:ext cx="3749040" cy="914400"/>
        </p:xfrm>
        <a:graphic>
          <a:graphicData uri="http://schemas.openxmlformats.org/drawingml/2006/table">
            <a:tbl>
              <a:tblPr/>
              <a:tblGrid>
                <a:gridCol w="1249680"/>
                <a:gridCol w="1249680"/>
                <a:gridCol w="12496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112,445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87,660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Payment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37,368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0" y="3749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has the highest fraud rate (0.24%) — worth additional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&amp; Bank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sending states and banks by transaction count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1051560"/>
          <a:ext cx="4023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Usage &amp; Merchant Categories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and where users are spending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1051560"/>
          <a:ext cx="4297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Pipeline: Cleaning Script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clean_upi_data.py — bug inventory &amp; fixes applied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840480"/>
                <a:gridCol w="42062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Applied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def main() / indentation errors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Wrapped in main(), fixed all indentation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.accumulator() — not a pandas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with .sum() throughout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length(df) — Python has no length()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with len(df)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df['amount_inr'].lowest() — invalid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with .min()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astype(message) — undefined 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with astype(str)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\total in print strings — invalid escape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with \n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0A3D5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43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Fraud Alert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80136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fraud rate (0.24%) despite lowest volume. Implement step-up authentication for recharge transactions.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0A3D5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143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65192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Android-First Strategy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180136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transactions on Android. Prioritise Android app performance, UX enhancements, and security patches.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0A3D5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" y="3383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Dominance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7216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handles 25% of all transactions. Partner deeply on fraud analytics and real-time dispute resolution.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0A3D5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65192" y="3383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as Growth Lever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65192" y="37216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(#1 category) signals habitual daily use. Loyalty cashbacks here could drive retention and frequency.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2026-06-24T20:03:23Z</dcterms:created>
  <dcterms:modified xsi:type="dcterms:W3CDTF">2026-06-24T20:03:23Z</dcterms:modified>
</cp:coreProperties>
</file>